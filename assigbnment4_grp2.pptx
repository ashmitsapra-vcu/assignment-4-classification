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7"/>
  </p:normalViewPr>
  <p:slideViewPr>
    <p:cSldViewPr snapToGrid="0" snapToObjects="1">
      <p:cViewPr varScale="1">
        <p:scale>
          <a:sx n="78" d="100"/>
          <a:sy n="78" d="100"/>
        </p:scale>
        <p:origin x="78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45009"/>
            <a:ext cx="2705100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512915"/>
            <a:ext cx="11087100" cy="600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68884"/>
            <a:ext cx="11544300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Poppins"/>
              </a:rPr>
              <a:t>Predicting Customer Churn</a:t>
            </a:r>
            <a:r>
              <a:t>
</a:t>
            </a:r>
            <a:r>
              <a:rPr sz="3900" b="1" i="0" u="none">
                <a:solidFill>
                  <a:srgbClr val="0F172A"/>
                </a:solidFill>
                <a:latin typeface="Poppins"/>
              </a:rPr>
              <a:t> Using Classification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3560415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A comparative study of Logistic Regression and Decision Tree Classifier on the IBM Telco Customer Churn Dataset (7,043 Records)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1825972"/>
            <a:ext cx="13335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700" y="4751040"/>
            <a:ext cx="29146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 u="none" dirty="0">
                <a:solidFill>
                  <a:srgbClr val="94A3B8"/>
                </a:solidFill>
                <a:latin typeface="Inter SemiBold"/>
              </a:rPr>
              <a:t>Group Members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1E293B"/>
                </a:solidFill>
                <a:latin typeface="Inter SemiBold"/>
              </a:rPr>
              <a:t>As</a:t>
            </a:r>
            <a:r>
              <a:rPr lang="en-IN" sz="1200" dirty="0">
                <a:solidFill>
                  <a:srgbClr val="1E293B"/>
                </a:solidFill>
                <a:latin typeface="Inter SemiBold"/>
              </a:rPr>
              <a:t>h</a:t>
            </a:r>
            <a:r>
              <a:rPr sz="1200" b="0" i="0" u="none" dirty="0" err="1">
                <a:solidFill>
                  <a:srgbClr val="1E293B"/>
                </a:solidFill>
                <a:latin typeface="Inter SemiBold"/>
              </a:rPr>
              <a:t>mit</a:t>
            </a:r>
            <a:r>
              <a:rPr sz="1200" b="0" i="0" u="none" dirty="0">
                <a:solidFill>
                  <a:srgbClr val="1E293B"/>
                </a:solidFill>
                <a:latin typeface="Inter SemiBold"/>
              </a:rPr>
              <a:t> S</a:t>
            </a:r>
            <a:r>
              <a:rPr lang="en-US" sz="1200" b="0" i="0" u="none" dirty="0">
                <a:solidFill>
                  <a:srgbClr val="1E293B"/>
                </a:solidFill>
                <a:latin typeface="Inter SemiBold"/>
              </a:rPr>
              <a:t>apra</a:t>
            </a:r>
            <a:r>
              <a:rPr sz="1200" b="0" i="0" u="none" dirty="0">
                <a:solidFill>
                  <a:srgbClr val="1E293B"/>
                </a:solidFill>
                <a:latin typeface="Inter SemiBold"/>
              </a:rPr>
              <a:t> | Naresh Prasad N </a:t>
            </a:r>
            <a:r>
              <a:rPr lang="en-IN" sz="1200" dirty="0">
                <a:solidFill>
                  <a:srgbClr val="1E293B"/>
                </a:solidFill>
                <a:latin typeface="Inter SemiBold"/>
              </a:rPr>
              <a:t>|Akshay R</a:t>
            </a:r>
            <a:endParaRPr sz="1200" b="0" i="0" u="none" dirty="0">
              <a:solidFill>
                <a:srgbClr val="1E293B"/>
              </a:solidFill>
              <a:latin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8362"/>
            <a:ext cx="5505450" cy="3419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138362"/>
            <a:ext cx="5505450" cy="3419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567112"/>
            <a:ext cx="23622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125" y="3567112"/>
            <a:ext cx="23622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7750" y="2452687"/>
            <a:ext cx="4830603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Dataset 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2919412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study evaluates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7,043 customer records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across 21 attributes with no missing values or duplicates.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633912"/>
            <a:ext cx="4876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* Moderate class imbalance present, requiring focus on Precision, Recall, and F1-Score over simple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5625" y="2452687"/>
            <a:ext cx="4740592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Data Preprocessing Pipeline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505075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2505075"/>
            <a:ext cx="26670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9425" y="2919412"/>
            <a:ext cx="45910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Identifier Removal: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Dropped non-informative customerID column.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9425" y="3538537"/>
            <a:ext cx="45910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Target Encoding: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Recoded Churn (Yes/No) into binary numeric (1/0).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9425" y="4157662"/>
            <a:ext cx="45910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One-Hot Encoding: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Converted categorical predictors with drop_first=True to avoid dummy trap.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9425" y="4776787"/>
            <a:ext cx="45910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Data Splitting: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80% Train (5,634 records) / 20% Test (1,409 records) with random_state=42.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3729037"/>
            <a:ext cx="2038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2563EB"/>
                </a:solidFill>
                <a:latin typeface="Poppins"/>
              </a:rPr>
              <a:t>5,174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4167187"/>
            <a:ext cx="203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Retained (73.5%)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8050" y="3729037"/>
            <a:ext cx="2038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EF4444"/>
                </a:solidFill>
                <a:latin typeface="Poppins"/>
              </a:rPr>
              <a:t>1,869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8050" y="4167187"/>
            <a:ext cx="2038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Churned (26.5%)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943225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3562350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4181475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4800600"/>
            <a:ext cx="171450" cy="1809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Dataset &amp; Preprocessing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847850"/>
            <a:ext cx="55054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847850"/>
            <a:ext cx="5200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Low Multicollinearity: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Pairwise correlations among numeric attributes (Senior Citizen, Tenure, Monthly Charges) remain below 0.25.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575" y="2495550"/>
            <a:ext cx="51720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Tenure &amp; Churn Spikes: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Higher concentration of churn occurs within early tenure months (recent sign-ups).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314325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Monthly Charges Impact: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Churned customers pay significantly higher average monthly charges with broader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3790950"/>
            <a:ext cx="51720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Service Type Signal: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Fiber Optic subscribers exhibit substantially elevated churn probability compared to DSL users.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57375"/>
            <a:ext cx="5486400" cy="398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71662"/>
            <a:ext cx="1905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519362"/>
            <a:ext cx="2190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67062"/>
            <a:ext cx="1333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814762"/>
            <a:ext cx="219075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Exploratory Data Analysis 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16931"/>
            <a:ext cx="11277600" cy="3109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79243"/>
            <a:ext cx="11277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* Note: Logistic Regression significantly outperforms the unconstrained Decision Tree across </a:t>
            </a:r>
            <a:r>
              <a:rPr sz="1050" b="1" i="0" u="none">
                <a:solidFill>
                  <a:srgbClr val="64748B"/>
                </a:solidFill>
                <a:latin typeface="Inter"/>
              </a:rPr>
              <a:t>every single metric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, especially in business-critical Recall (+11.0 percentage points).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725" y="2126456"/>
          <a:ext cx="11258548" cy="3090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5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4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3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143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Evaluation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Decision Tree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Performance Difference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Leading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1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81.05%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77.29%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+3.76%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1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65.96%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58.75%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+7.21%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1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58.71%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47.72%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+10.99%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14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0.6213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0.5266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+0.0947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14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ROC-AUC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0.7390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0.6783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+0.0607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66725" y="3117056"/>
            <a:ext cx="21594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26221" y="3117056"/>
            <a:ext cx="2365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91844" y="3117056"/>
            <a:ext cx="1795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87306" y="3117056"/>
            <a:ext cx="2814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944" y="3117056"/>
            <a:ext cx="2123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725" y="3640931"/>
            <a:ext cx="21594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26221" y="3640931"/>
            <a:ext cx="2365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91844" y="3640931"/>
            <a:ext cx="1795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87306" y="3640931"/>
            <a:ext cx="2814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01944" y="3640931"/>
            <a:ext cx="2123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725" y="4164806"/>
            <a:ext cx="21594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26221" y="4164806"/>
            <a:ext cx="2365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91844" y="4164806"/>
            <a:ext cx="1795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87306" y="4164806"/>
            <a:ext cx="2814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01944" y="4164806"/>
            <a:ext cx="2123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725" y="4688681"/>
            <a:ext cx="21594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26221" y="4688681"/>
            <a:ext cx="2365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91844" y="4688681"/>
            <a:ext cx="1795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87306" y="4688681"/>
            <a:ext cx="2814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01944" y="4688681"/>
            <a:ext cx="21233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444" y="2740818"/>
            <a:ext cx="1285875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2444" y="3264693"/>
            <a:ext cx="1285875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2444" y="3788568"/>
            <a:ext cx="1285875" cy="2476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2444" y="4312443"/>
            <a:ext cx="1285875" cy="247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2444" y="4836318"/>
            <a:ext cx="1285875" cy="2476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Model Performance Summary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5400"/>
            <a:ext cx="11277600" cy="5105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05900" y="193357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706100" y="193357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Model Comparison Visualized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1218"/>
            <a:ext cx="5505450" cy="34337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131218"/>
            <a:ext cx="5505450" cy="343376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725" y="2140743"/>
          <a:ext cx="5486398" cy="3414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1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Feature Predictor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Importance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Tenure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21.72%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Monthly Charges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12.49%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Internet Service: Fiber Optic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10.38%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Payment Method: Electronic Check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1.67%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Paperless Billing: 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1.54%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81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Senior Citizen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1.53%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05575" y="2407443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oppins"/>
              </a:rPr>
              <a:t>Key Insights from Feature Importance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1325" y="2845593"/>
            <a:ext cx="466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Dominant Drivers: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Tenure and Monthly Charges account for over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34%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of total predictive power.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1325" y="3455193"/>
            <a:ext cx="4667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Service Quality Signal: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Fiber Optic internet is the single largest categorical driver (10.4%), highlighting potential price or service dissatisfaction.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4293393"/>
            <a:ext cx="4667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Billing Methods: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Electronic check payments and paperless billing correlate with higher churn probability.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725" y="3098006"/>
            <a:ext cx="8655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32309" y="3098006"/>
            <a:ext cx="3159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92079" y="3098006"/>
            <a:ext cx="1461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725" y="3588543"/>
            <a:ext cx="8655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32309" y="3588543"/>
            <a:ext cx="3159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92079" y="3588543"/>
            <a:ext cx="1461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725" y="4079081"/>
            <a:ext cx="8655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332309" y="4079081"/>
            <a:ext cx="3159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92079" y="4079081"/>
            <a:ext cx="1461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725" y="4569618"/>
            <a:ext cx="8655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332309" y="4569618"/>
            <a:ext cx="3159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92079" y="4569618"/>
            <a:ext cx="1461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725" y="5060156"/>
            <a:ext cx="8655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32309" y="5060156"/>
            <a:ext cx="3159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92079" y="5060156"/>
            <a:ext cx="14610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2869406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479006"/>
            <a:ext cx="17145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4317206"/>
            <a:ext cx="171450" cy="1809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Top Key Drivers of Churn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8387"/>
            <a:ext cx="11277600" cy="1962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29137"/>
            <a:ext cx="11277600" cy="82867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725" y="2347912"/>
          <a:ext cx="11258546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0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4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Probability Threshold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Operational Suitability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0.3 (Low Cut-off)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75.80%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52.85%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79.62%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0.6353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Aggressive Retention Campaigns</a:t>
                      </a:r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 (High Recall)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0.5 (Default Cut-off)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81.05%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65.96%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58.71%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0.6213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Balanced General Classification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0.7 (High Cut-off)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77.29%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Inter"/>
                        </a:rPr>
                        <a:t>77.32%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20.11%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0.3191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Resource-Constrained High-Confidence Offers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7225" y="4729162"/>
            <a:ext cx="10877550" cy="428625"/>
          </a:xfrm>
          <a:prstGeom prst="rect">
            <a:avLst/>
          </a:prstGeom>
          <a:noFill/>
        </p:spPr>
        <p:txBody>
          <a:bodyPr wrap="square" lIns="158115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2563EB"/>
                </a:solidFill>
                <a:latin typeface="Inter"/>
              </a:rPr>
              <a:t> Strategic Takeaway: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Lowering the threshold to </a:t>
            </a:r>
            <a:r>
              <a:rPr sz="1125" b="1" i="0" u="none">
                <a:solidFill>
                  <a:srgbClr val="334155"/>
                </a:solidFill>
                <a:latin typeface="Inter"/>
              </a:rPr>
              <a:t>0.3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increases Recall to </a:t>
            </a:r>
            <a:r>
              <a:rPr sz="1125" b="1" i="0" u="none">
                <a:solidFill>
                  <a:srgbClr val="334155"/>
                </a:solidFill>
                <a:latin typeface="Inter"/>
              </a:rPr>
              <a:t>79.6%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, allowing telecom operators to catch over 4 out of 5 churners. This is ideal when the lifetime value of a retained customer significantly exceeds the cost of a promotional retention offer.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725" y="3305175"/>
            <a:ext cx="23107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77430" y="3305175"/>
            <a:ext cx="1281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58691" y="3305175"/>
            <a:ext cx="123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96197" y="3305175"/>
            <a:ext cx="10731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69397" y="3305175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1121" y="3305175"/>
            <a:ext cx="4184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725" y="3795712"/>
            <a:ext cx="23107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77430" y="3795712"/>
            <a:ext cx="1281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58691" y="3795712"/>
            <a:ext cx="1237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96197" y="3795712"/>
            <a:ext cx="10731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69397" y="3795712"/>
            <a:ext cx="1171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1121" y="3795712"/>
            <a:ext cx="41841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4757737"/>
            <a:ext cx="10477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Threshold Sensitivity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02408"/>
            <a:ext cx="3606849" cy="24913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649" y="2602408"/>
            <a:ext cx="3606849" cy="24913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602408"/>
            <a:ext cx="3606849" cy="24913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878633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3564433"/>
            <a:ext cx="276034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Deploy 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3964483"/>
            <a:ext cx="3054399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Deploy Logistic Regression as the core prediction engine due to its superior Accuracy (81.1%), Recall (58.7%), and direct probability output for customer risk scoring.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878633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564433"/>
            <a:ext cx="22802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Adopt 0.3 Risk Cut-off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964483"/>
            <a:ext cx="3054399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Implement a continuous risk scoring pipeline with a 0.3 classification threshold for proactive retention campaigns to maximize churn detection up to 79.6%.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4324" y="2878633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04324" y="3564433"/>
            <a:ext cx="268033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Target High-Risk Triggers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324" y="3964483"/>
            <a:ext cx="3054399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Focus retention incentives on vulnerable segments: new sign-ups (low tenure), high monthly bill tiers, electronic check users, and Fiber Optic subscribers.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011983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2224" y="3011983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7674" y="3011983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"/>
            <a:ext cx="1173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Strategic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0" y="7239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628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Ashmit Sapra</cp:lastModifiedBy>
  <cp:revision>5</cp:revision>
  <dcterms:created xsi:type="dcterms:W3CDTF">2013-01-27T09:14:16Z</dcterms:created>
  <dcterms:modified xsi:type="dcterms:W3CDTF">2026-08-03T15:48:51Z</dcterms:modified>
  <cp:category/>
</cp:coreProperties>
</file>